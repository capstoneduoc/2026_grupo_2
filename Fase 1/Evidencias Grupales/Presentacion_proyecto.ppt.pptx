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Zy6BCJZ6d+5oWpFClOEXcdcdr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D2B2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D2B22"/>
                </a:solidFill>
                <a:latin typeface="Calibri"/>
              </a:rPr>
              <a:t>Costo estimado por fase (CLP)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(CLP)</c:v>
                </c:pt>
              </c:strCache>
            </c:strRef>
          </c:tx>
          <c:spPr>
            <a:solidFill>
              <a:srgbClr val="0B4B2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B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Planificación</c:v>
                  </c:pt>
                  <c:pt idx="1">
                    <c:v>Diseño</c:v>
                  </c:pt>
                  <c:pt idx="2">
                    <c:v>Desarrollo</c:v>
                  </c:pt>
                  <c:pt idx="3">
                    <c:v>QA</c:v>
                  </c:pt>
                  <c:pt idx="4">
                    <c:v>Implementación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1232000</c:v>
                </c:pt>
                <c:pt idx="1">
                  <c:v>3360000</c:v>
                </c:pt>
                <c:pt idx="2">
                  <c:v>5184000</c:v>
                </c:pt>
                <c:pt idx="3">
                  <c:v>2100000</c:v>
                </c:pt>
                <c:pt idx="4">
                  <c:v>1056000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D2B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6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A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8.jpg"/><Relationship Id="rId7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3.png"/><Relationship Id="rId5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3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hoto_title.jpe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31A">
              <a:alpha val="6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rgbClr val="07331A">
              <a:alpha val="8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w.png"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3272" y="987552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PRESENTACIÓN PORTAFOLIO DE TÍTULO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77240" y="251460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CowTracker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Gestión ganadera digital con identificación por código QR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822960" y="4572000"/>
            <a:ext cx="2926080" cy="0"/>
          </a:xfrm>
          <a:prstGeom prst="straightConnector1">
            <a:avLst/>
          </a:prstGeom>
          <a:noFill/>
          <a:ln cap="flat" cmpd="sng" w="317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1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Proyecto Capstone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22960" y="6126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C9B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AEC9B8"/>
                </a:solidFill>
                <a:latin typeface="Calibri"/>
                <a:ea typeface="Calibri"/>
                <a:cs typeface="Calibri"/>
                <a:sym typeface="Calibri"/>
              </a:rPr>
              <a:t>Escuela de Informática y Telecomunicaciones  ·  Sede Puente Alto  ·  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hoto_cow.jpe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79476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07331A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365760" y="5852160"/>
            <a:ext cx="3063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Nuestro equipo detrás de CowTracker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25196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EQUIPO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251960" y="77724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Integrantes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251960" y="196596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480560" y="2606040"/>
            <a:ext cx="685800" cy="68580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480560" y="26060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349240" y="23317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Lucas Meléndez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49240" y="277063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Jefe de Proyecto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183880" y="1965960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8412480" y="2606040"/>
            <a:ext cx="685800" cy="685800"/>
          </a:xfrm>
          <a:prstGeom prst="ellipse">
            <a:avLst/>
          </a:prstGeom>
          <a:solidFill>
            <a:srgbClr val="3F7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412480" y="260604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JS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281160" y="2331720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Justin Serón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281160" y="2770632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Analista Programador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251960" y="4224528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480560" y="4864608"/>
            <a:ext cx="685800" cy="68580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480560" y="48646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349240" y="45902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Camilo Le Fort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349240" y="502920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Administrador de Base de Datos (DBA)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8183880" y="4224528"/>
            <a:ext cx="3611880" cy="196596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8412480" y="4864608"/>
            <a:ext cx="685800" cy="6858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8412480" y="4864608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281160" y="4590288"/>
            <a:ext cx="2331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Danery Arriagada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9281160" y="502920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Analista de Calidad y Testing (QA)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25196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DuocUC — Proyecto Capstone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" name="Google Shape;59;p2" title="Lucas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7688" y="2423175"/>
            <a:ext cx="1051500" cy="1051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0" name="Google Shape;60;p2" title="Justin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13" y="2423175"/>
            <a:ext cx="1051500" cy="1051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1" name="Google Shape;61;p2" title="Camilo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97688" y="4681763"/>
            <a:ext cx="1051500" cy="10515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2" name="Google Shape;62;p2" title="Danery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229613" y="4681738"/>
            <a:ext cx="1051500" cy="1051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CONTEXTO DEL PROYECTO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Descripción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expand.png" id="72" name="Google Shape;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834" y="223799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1737360" y="214884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Problemática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914400" y="3108960"/>
            <a:ext cx="4617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La gestión del ganado en las granjas chilenas sigue dependiendo de métodos tradicionales como registros en papel o Excel, lo que genera desorganización, pérdida de información y errores en el control sanitario y reproductivo. Los datos quedan dispersos en múltiples formatos, dificultando el acceso y afectando directamente la productividad de cada ganadero.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17920" y="1783080"/>
            <a:ext cx="534924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537960" y="2148840"/>
            <a:ext cx="685800" cy="68580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w.png" id="77" name="Google Shape;7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7114" y="223799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7406640" y="2148840"/>
            <a:ext cx="3886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Propuesta de Solución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583680" y="3108960"/>
            <a:ext cx="46177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CowTracker centraliza la ficha de cada animal —salud, reproducción, producción y documentos— identificable mediante código QR. Formaliza el acceso por rol y por finca (multi-tenant), y suma predicción de producción de leche con machine learning, además de integraciones al contexto chileno: geografía, clima y pagos vía Webpay Plus.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PROPÓSITO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Objetivos del Proyecto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fmla="val 9524" name="adj"/>
            </a:avLst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77240" y="1856232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ullseye.png" id="90" name="Google Shape;9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450" y="1939442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1600200" y="1783080"/>
            <a:ext cx="9829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Objetivo General   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y web que optimice la gestión del ganado mediante digitalización de registros, identificación con códigos QR y generación de reportes, mejorando la eficiencia, el control sanitario y la productividad en las fincas.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Objetivos Específicos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339242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548640" y="3392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0120" y="33375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Implementar identificación de cada bovino mediante código QR único.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309360" y="339242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6309360" y="339242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720840" y="33375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Digitalizar el registro veterinario: tratamientos, vacunas y reproducción.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" y="426110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48640" y="42611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60120" y="420624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Automatizar alertas y notificaciones para el control sanitario.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309360" y="426110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309360" y="426110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720840" y="420624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Incorporar predicción de producción de leche mediante machine learning.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48640" y="512978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548640" y="51297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60120" y="507492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Gestionar comercialización: compras a proveedores y ventas de ganado y leche.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09360" y="5129784"/>
            <a:ext cx="292608" cy="292608"/>
          </a:xfrm>
          <a:prstGeom prst="ellipse">
            <a:avLst/>
          </a:prstGeom>
          <a:solidFill>
            <a:srgbClr val="E4EFE6"/>
          </a:solidFill>
          <a:ln cap="flat" cmpd="sng" w="1270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6309360" y="512978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720840" y="507492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Adaptar el sistema al contexto chileno: geografía, clima y pagos (Webpay).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LÍMITES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Alcances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48640" y="1783080"/>
            <a:ext cx="534924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eck.png"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" y="212872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1508760" y="205740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Qué hace el sistema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68680" y="28346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207008" y="283464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Identificación y ficha de cada animal mediante código QR.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68680" y="334670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207008" y="3346704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Registro veterinario: vacunas, tratamientos y reproducción.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868680" y="3968496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207008" y="3968496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Producción de leche y peso, con predicción por machine learning.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68680" y="459028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1207008" y="459028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Comercialización: compras, ventas de ganado y leche.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68680" y="510235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207008" y="510235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Reportes exportables a PDF y XLS, notificaciones in-app y push.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68680" y="572414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1207008" y="5724144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Gestión multi-finca por rol (ganadero, trabajador, veterinario).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6217920" y="1783080"/>
            <a:ext cx="5349240" cy="4434840"/>
          </a:xfrm>
          <a:prstGeom prst="roundRect">
            <a:avLst>
              <a:gd fmla="val 2062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6492240" y="205740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an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3563" y="212872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7178040" y="2057400"/>
            <a:ext cx="4160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Qué no hace el sistema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6537960" y="2834640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6876288" y="2834640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 reemplaza la supervisión física del ganado en terreno.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537960" y="3346704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876288" y="3346704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 realiza diagnósticos veterinarios automáticos.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537960" y="3858768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876288" y="3858768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 gestiona inventario de medicamentos o insumos.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6537960" y="4370832"/>
            <a:ext cx="320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76288" y="437083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20"/>
              <a:buFont typeface="Calibri"/>
              <a:buNone/>
            </a:pPr>
            <a:r>
              <a:rPr b="0" i="0" lang="en-US" sz="122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 incorpora sensores IoT (ej. collares GPS) para rastreo continuo.</a:t>
            </a:r>
            <a:endParaRPr b="0" i="0" sz="1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ACTORES DEL SISTEMA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Usuarios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1920240"/>
            <a:ext cx="3520440" cy="39319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1897380" y="2377440"/>
            <a:ext cx="822960" cy="82296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userFriends.png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4365" y="248442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731520" y="3337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Ganadero (Administrador)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22960" y="406908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Administra usuarios, la finca y el ganado. Gestiona el personal vinculado y las suscripciones.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389120" y="1920240"/>
            <a:ext cx="3520440" cy="39319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737860" y="2377440"/>
            <a:ext cx="822960" cy="8229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yringe.png" id="162" name="Google Shape;16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44845" y="248442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4572000" y="3337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Veterinario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663440" y="406908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Registra enfermedades, tratamientos, vacunación, citas e historial reproductivo del ganado.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8229600" y="1920240"/>
            <a:ext cx="3520440" cy="393192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9578340" y="2377440"/>
            <a:ext cx="822960" cy="8229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art.png" id="167" name="Google Shape;16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85325" y="2484425"/>
            <a:ext cx="608990" cy="608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8412480" y="3337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Trabajador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8503920" y="4069080"/>
            <a:ext cx="2971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Ingresa datos de producción (peso, leche), compras y ventas, y eventos relevantes del ganado.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ESPECIFICACIÓN DE 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Lista de Requerimientos Clave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548640" y="178308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713232" y="194767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13232" y="194767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RF02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713232" y="233172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Inicio de sesión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13232" y="269748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Autenticación JWT con roles diferenciados.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315968" y="178308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480560" y="194767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4480560" y="194767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480560" y="233172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CRUD de finca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480560" y="269748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Alta, edición y eliminación de fincas.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083296" y="178308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247888" y="194767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247888" y="194767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RF09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247888" y="233172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Administrar ganado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247888" y="269748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Registro, edición y baja de animales.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548640" y="333756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713232" y="350215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713232" y="350215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713232" y="388620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Identificación por QR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13232" y="425196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Escaneo de QR para ver la ficha del animal.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315968" y="333756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4480560" y="350215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4480560" y="350215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480560" y="388620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Registro veterinario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4480560" y="425196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Tratamientos médicos y vacunación.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083296" y="333756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247888" y="350215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8247888" y="350215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RF17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247888" y="388620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Predicción de leche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247888" y="425196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Modelo de machine learning (Ridge).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489204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713232" y="505663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713232" y="505663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713232" y="544068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Venta de ganado y leche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13232" y="580644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CRUD de ventas con cálculo server-side.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315968" y="489204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480560" y="505663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480560" y="505663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480560" y="544068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Notificaciones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480560" y="580644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Inbox in-app y notificaciones push (FCM).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8083296" y="4892040"/>
            <a:ext cx="3566160" cy="1389888"/>
          </a:xfrm>
          <a:prstGeom prst="roundRect">
            <a:avLst>
              <a:gd fmla="val 526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8247888" y="5056632"/>
            <a:ext cx="685800" cy="320040"/>
          </a:xfrm>
          <a:prstGeom prst="roundRect">
            <a:avLst>
              <a:gd fmla="val 17143" name="adj"/>
            </a:avLst>
          </a:prstGeom>
          <a:solidFill>
            <a:srgbClr val="E4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8247888" y="5056632"/>
            <a:ext cx="685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RF25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247888" y="5440680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Suscripción 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247888" y="5806440"/>
            <a:ext cx="3236976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Pago vía Webpay Plus con confirmación.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548640" y="64922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+ 16 requerimientos funcionales y 13 no funcionales adicionales documentados en la ERS del proyecto.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31A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INTERFAZ GRÁFICA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Mockups del Sistema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8640" y="120700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Vistas reales de la app móvil y la plataforma web de CowTracker.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03504" y="1883664"/>
            <a:ext cx="2313432" cy="3236976"/>
          </a:xfrm>
          <a:prstGeom prst="roundRect">
            <a:avLst>
              <a:gd fmla="val 8696" name="adj"/>
            </a:avLst>
          </a:prstGeom>
          <a:solidFill>
            <a:srgbClr val="0F3D22"/>
          </a:solidFill>
          <a:ln cap="flat" cmpd="sng" w="254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ock_ventas_mobile.png" id="234" name="Google Shape;2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965960"/>
            <a:ext cx="2148840" cy="307238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603504" y="5175504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2980944" y="1883664"/>
            <a:ext cx="2313432" cy="3236976"/>
          </a:xfrm>
          <a:prstGeom prst="roundRect">
            <a:avLst>
              <a:gd fmla="val 8696" name="adj"/>
            </a:avLst>
          </a:prstGeom>
          <a:solidFill>
            <a:srgbClr val="0F3D22"/>
          </a:solidFill>
          <a:ln cap="flat" cmpd="sng" w="254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ock_ganado_mobile.png" id="237" name="Google Shape;2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63240" y="1965960"/>
            <a:ext cx="2148840" cy="307238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8"/>
          <p:cNvSpPr/>
          <p:nvPr/>
        </p:nvSpPr>
        <p:spPr>
          <a:xfrm>
            <a:off x="2980944" y="5175504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Ganado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358384" y="1883664"/>
            <a:ext cx="2313432" cy="3236976"/>
          </a:xfrm>
          <a:prstGeom prst="roundRect">
            <a:avLst>
              <a:gd fmla="val 8696" name="adj"/>
            </a:avLst>
          </a:prstGeom>
          <a:solidFill>
            <a:srgbClr val="0F3D22"/>
          </a:solidFill>
          <a:ln cap="flat" cmpd="sng" w="254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ock_ayuda_mobile.png" id="240" name="Google Shape;24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0680" y="1965960"/>
            <a:ext cx="2148840" cy="307238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5358384" y="5175504"/>
            <a:ext cx="231343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Centro de Ayuda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7927848" y="1892808"/>
            <a:ext cx="3758184" cy="2626185"/>
          </a:xfrm>
          <a:prstGeom prst="roundRect">
            <a:avLst>
              <a:gd fmla="val 2785" name="adj"/>
            </a:avLst>
          </a:prstGeom>
          <a:solidFill>
            <a:srgbClr val="0F3D22"/>
          </a:solidFill>
          <a:ln cap="flat" cmpd="sng" w="254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ock_perfil_web.png" id="243" name="Google Shape;24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01000" y="1965960"/>
            <a:ext cx="3611880" cy="2479881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8"/>
          <p:cNvSpPr/>
          <p:nvPr/>
        </p:nvSpPr>
        <p:spPr>
          <a:xfrm>
            <a:off x="7927848" y="4583001"/>
            <a:ext cx="37581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Panel Web — Perfil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PLANIFICACIÓN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Hitos Importantes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3" name="Google Shape;253;p9"/>
          <p:cNvCxnSpPr/>
          <p:nvPr/>
        </p:nvCxnSpPr>
        <p:spPr>
          <a:xfrm>
            <a:off x="1737360" y="3566160"/>
            <a:ext cx="8732520" cy="0"/>
          </a:xfrm>
          <a:prstGeom prst="straightConnector1">
            <a:avLst/>
          </a:prstGeom>
          <a:noFill/>
          <a:ln cap="flat" cmpd="sng" w="31750">
            <a:solidFill>
              <a:srgbClr val="3F7A5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/>
          <p:nvPr/>
        </p:nvSpPr>
        <p:spPr>
          <a:xfrm>
            <a:off x="1536192" y="3364992"/>
            <a:ext cx="402336" cy="402336"/>
          </a:xfrm>
          <a:prstGeom prst="ellipse">
            <a:avLst/>
          </a:prstGeom>
          <a:solidFill>
            <a:srgbClr val="0B4B25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536192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594360" y="1691640"/>
            <a:ext cx="22860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31520" y="1828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Planificación y Diseño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731520" y="23500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20-08-2026  al  10-09-2026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31520" y="26791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22 días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>
            <a:off x="1737360" y="310896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C9D6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1" name="Google Shape;261;p9"/>
          <p:cNvSpPr/>
          <p:nvPr/>
        </p:nvSpPr>
        <p:spPr>
          <a:xfrm>
            <a:off x="4447032" y="3364992"/>
            <a:ext cx="402336" cy="402336"/>
          </a:xfrm>
          <a:prstGeom prst="ellipse">
            <a:avLst/>
          </a:prstGeom>
          <a:solidFill>
            <a:srgbClr val="E67E2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4447032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505200" y="4023360"/>
            <a:ext cx="22860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642360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Desarrollo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642360" y="46817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11-09-2026  al  10-11-2026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3642360" y="501091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61 días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" name="Google Shape;267;p9"/>
          <p:cNvCxnSpPr/>
          <p:nvPr/>
        </p:nvCxnSpPr>
        <p:spPr>
          <a:xfrm>
            <a:off x="4648200" y="356616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C9D6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8" name="Google Shape;268;p9"/>
          <p:cNvSpPr/>
          <p:nvPr/>
        </p:nvSpPr>
        <p:spPr>
          <a:xfrm>
            <a:off x="7357872" y="3364992"/>
            <a:ext cx="402336" cy="402336"/>
          </a:xfrm>
          <a:prstGeom prst="ellipse">
            <a:avLst/>
          </a:prstGeom>
          <a:solidFill>
            <a:srgbClr val="0B4B25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7357872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416040" y="1691640"/>
            <a:ext cx="22860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6553200" y="182880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Pruebas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553200" y="235000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11-11-2026  al  25-11-2026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553200" y="267919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15 días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9"/>
          <p:cNvCxnSpPr/>
          <p:nvPr/>
        </p:nvCxnSpPr>
        <p:spPr>
          <a:xfrm>
            <a:off x="7559040" y="310896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C9D6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75" name="Google Shape;275;p9"/>
          <p:cNvSpPr/>
          <p:nvPr/>
        </p:nvSpPr>
        <p:spPr>
          <a:xfrm>
            <a:off x="10268712" y="3364992"/>
            <a:ext cx="402336" cy="402336"/>
          </a:xfrm>
          <a:prstGeom prst="ellipse">
            <a:avLst/>
          </a:prstGeom>
          <a:solidFill>
            <a:srgbClr val="E67E22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10268712" y="336499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9326880" y="4023360"/>
            <a:ext cx="22860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D2B22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9464040" y="4160520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300"/>
              <a:buFont typeface="Cambria"/>
              <a:buNone/>
            </a:pPr>
            <a:r>
              <a:rPr b="1" i="0" lang="en-US" sz="130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Entrega y Cierre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9464040" y="468172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26-11-2026  al  10-12-2026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464040" y="501091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B4B25"/>
                </a:solidFill>
                <a:latin typeface="Calibri"/>
                <a:ea typeface="Calibri"/>
                <a:cs typeface="Calibri"/>
                <a:sym typeface="Calibri"/>
              </a:rPr>
              <a:t>15 días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1" name="Google Shape;281;p9"/>
          <p:cNvCxnSpPr/>
          <p:nvPr/>
        </p:nvCxnSpPr>
        <p:spPr>
          <a:xfrm>
            <a:off x="10469880" y="3566160"/>
            <a:ext cx="0" cy="457200"/>
          </a:xfrm>
          <a:prstGeom prst="straightConnector1">
            <a:avLst/>
          </a:prstGeom>
          <a:noFill/>
          <a:ln cap="flat" cmpd="sng" w="12700">
            <a:solidFill>
              <a:srgbClr val="C9D6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82" name="Google Shape;282;p9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Duración total del proyecto: 10-08-2026 al 30-12-2026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PRESUPUESTO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Costo por Fase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10"/>
          <p:cNvGraphicFramePr/>
          <p:nvPr/>
        </p:nvGraphicFramePr>
        <p:xfrm>
          <a:off x="548640" y="1783080"/>
          <a:ext cx="7406640" cy="44348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92" name="Google Shape;292;p10"/>
          <p:cNvSpPr/>
          <p:nvPr/>
        </p:nvSpPr>
        <p:spPr>
          <a:xfrm>
            <a:off x="8321040" y="1783080"/>
            <a:ext cx="3291840" cy="4434840"/>
          </a:xfrm>
          <a:prstGeom prst="roundRect">
            <a:avLst>
              <a:gd fmla="val 2778" name="adj"/>
            </a:avLst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9578340" y="2194560"/>
            <a:ext cx="777240" cy="7772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ins.png" id="294" name="Google Shape;2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79381" y="2295601"/>
            <a:ext cx="575158" cy="57515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8503920" y="3200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Presupuesto Total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8503920" y="356616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$20.900.000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503920" y="416052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9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EC9B8"/>
                </a:solidFill>
                <a:latin typeface="Calibri"/>
                <a:ea typeface="Calibri"/>
                <a:cs typeface="Calibri"/>
                <a:sym typeface="Calibri"/>
              </a:rPr>
              <a:t>CLP neto (estimado)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8" name="Google Shape;298;p10"/>
          <p:cNvCxnSpPr/>
          <p:nvPr/>
        </p:nvCxnSpPr>
        <p:spPr>
          <a:xfrm>
            <a:off x="8686800" y="4617720"/>
            <a:ext cx="2560320" cy="0"/>
          </a:xfrm>
          <a:prstGeom prst="straightConnector1">
            <a:avLst/>
          </a:prstGeom>
          <a:noFill/>
          <a:ln cap="flat" cmpd="sng" w="127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0"/>
          <p:cNvSpPr/>
          <p:nvPr/>
        </p:nvSpPr>
        <p:spPr>
          <a:xfrm>
            <a:off x="8595360" y="480060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F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E6"/>
                </a:solidFill>
                <a:latin typeface="Calibri"/>
                <a:ea typeface="Calibri"/>
                <a:cs typeface="Calibri"/>
                <a:sym typeface="Calibri"/>
              </a:rPr>
              <a:t>Móvil $4,5M · Web $4,5M · Backend $4,5M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F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E6"/>
                </a:solidFill>
                <a:latin typeface="Calibri"/>
                <a:ea typeface="Calibri"/>
                <a:cs typeface="Calibri"/>
                <a:sym typeface="Calibri"/>
              </a:rPr>
              <a:t>Integración $1,2M · QA $1,44M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F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E6"/>
                </a:solidFill>
                <a:latin typeface="Calibri"/>
                <a:ea typeface="Calibri"/>
                <a:cs typeface="Calibri"/>
                <a:sym typeface="Calibri"/>
              </a:rPr>
              <a:t>DevOps $0,6M · Documentación $0,96M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4EFE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4EFE6"/>
                </a:solidFill>
                <a:latin typeface="Calibri"/>
                <a:ea typeface="Calibri"/>
                <a:cs typeface="Calibri"/>
                <a:sym typeface="Calibri"/>
              </a:rPr>
              <a:t>Gestión $1,44M · Infra y licencias $1M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Nota: los módulos premium (Webpay), predicción ML y clima se difieren a la Fase 2 y no están incluidos en este presupuesto.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A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STACK TÉCNICO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4B25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0B4B25"/>
                </a:solidFill>
                <a:latin typeface="Cambria"/>
                <a:ea typeface="Cambria"/>
                <a:cs typeface="Cambria"/>
                <a:sym typeface="Cambria"/>
              </a:rPr>
              <a:t>Tecnologías del Desarrollo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48640" y="1828800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731520" y="2043684"/>
            <a:ext cx="594360" cy="59436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mobile.png" id="311" name="Google Shape;3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8787" y="2120951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1508760" y="19385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App Móvil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1508760" y="230428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React Native / Expo (Android e iOS)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6309360" y="1828800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1"/>
          <p:cNvSpPr/>
          <p:nvPr/>
        </p:nvSpPr>
        <p:spPr>
          <a:xfrm>
            <a:off x="6492240" y="2043684"/>
            <a:ext cx="594360" cy="594360"/>
          </a:xfrm>
          <a:prstGeom prst="ellipse">
            <a:avLst/>
          </a:prstGeom>
          <a:solidFill>
            <a:srgbClr val="3F7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de.png" id="316" name="Google Shape;31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69507" y="2120951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7269480" y="19385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App Web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7269480" y="230428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Next.js (React)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548640" y="2980944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731520" y="3195828"/>
            <a:ext cx="594360" cy="5943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de.png" id="321" name="Google Shape;32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787" y="3273095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1"/>
          <p:cNvSpPr/>
          <p:nvPr/>
        </p:nvSpPr>
        <p:spPr>
          <a:xfrm>
            <a:off x="1508760" y="30906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Backend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1508760" y="345643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Node.js / Express + PostgreSQL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6309360" y="2980944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6492240" y="3195828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listUl.png" id="326" name="Google Shape;3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69507" y="3273095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7269480" y="3090672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Reportes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269480" y="345643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PDFKit (PDF) y exportación a XLS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48640" y="4133088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731520" y="4347972"/>
            <a:ext cx="594360" cy="594360"/>
          </a:xfrm>
          <a:prstGeom prst="ellipse">
            <a:avLst/>
          </a:prstGeom>
          <a:solidFill>
            <a:srgbClr val="0B4B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bell.png" id="331" name="Google Shape;33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787" y="4425239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1"/>
          <p:cNvSpPr/>
          <p:nvPr/>
        </p:nvSpPr>
        <p:spPr>
          <a:xfrm>
            <a:off x="1508760" y="424281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Notificaciones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1508760" y="4608576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SendGrid (correo) y push móvil (FCM)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309360" y="4133088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6492240" y="4347972"/>
            <a:ext cx="594360" cy="594360"/>
          </a:xfrm>
          <a:prstGeom prst="ellipse">
            <a:avLst/>
          </a:prstGeom>
          <a:solidFill>
            <a:srgbClr val="3F7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ar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69507" y="4425239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7269480" y="4242816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Pagos (Fase 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7269480" y="4608576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Webpay Plus / Transbank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548640" y="5285232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731520" y="5500116"/>
            <a:ext cx="594360" cy="59436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hartline.png" id="341" name="Google Shape;341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787" y="5577383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11"/>
          <p:cNvSpPr/>
          <p:nvPr/>
        </p:nvSpPr>
        <p:spPr>
          <a:xfrm>
            <a:off x="1508760" y="53949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Predicción ML (Fase 2)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1"/>
          <p:cNvSpPr/>
          <p:nvPr/>
        </p:nvSpPr>
        <p:spPr>
          <a:xfrm>
            <a:off x="1508760" y="5760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Modelo Ridge vía FastAPI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6309360" y="5285232"/>
            <a:ext cx="5440680" cy="1024128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E3EAE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5400000" dist="25400">
              <a:srgbClr val="1D2B22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1"/>
          <p:cNvSpPr/>
          <p:nvPr/>
        </p:nvSpPr>
        <p:spPr>
          <a:xfrm>
            <a:off x="6492240" y="5500116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edling.png" id="346" name="Google Shape;346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69507" y="5577383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1"/>
          <p:cNvSpPr/>
          <p:nvPr/>
        </p:nvSpPr>
        <p:spPr>
          <a:xfrm>
            <a:off x="7269480" y="5394960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B22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D2B22"/>
                </a:solidFill>
                <a:latin typeface="Cambria"/>
                <a:ea typeface="Cambria"/>
                <a:cs typeface="Cambria"/>
                <a:sym typeface="Cambria"/>
              </a:rPr>
              <a:t>Despliegue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269480" y="5760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Docker Compose (self-hosted)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31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7E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548640" y="658368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Conclusión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4EFE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4EFE6"/>
                </a:solidFill>
                <a:latin typeface="Calibri"/>
                <a:ea typeface="Calibri"/>
                <a:cs typeface="Calibri"/>
                <a:sym typeface="Calibri"/>
              </a:rPr>
              <a:t>El desarrollo de CowTracker ha sido un proceso desafiante y enriquecedor que nos permitió aplicar los conocimientos adquiridos durante estos años de formación académica. Con esta solución tecnológica logramos digitalizar la gestión ganadera con una plataforma móvil y web integrada, sumando desafíos técnicos como el modelo multi-finca, la predicción de producción de leche con machine learning y las integraciones al contexto chileno.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Este proyecto fortaleció nuestras capacidades en: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548640" y="3520440"/>
            <a:ext cx="3429000" cy="1051560"/>
          </a:xfrm>
          <a:prstGeom prst="roundRect">
            <a:avLst>
              <a:gd fmla="val 7826" name="adj"/>
            </a:avLst>
          </a:prstGeom>
          <a:solidFill>
            <a:srgbClr val="0B4B25"/>
          </a:solidFill>
          <a:ln cap="flat" cmpd="sng" w="127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777240" y="374904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users.png" id="361" name="Google Shape;3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507" y="382630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2"/>
          <p:cNvSpPr/>
          <p:nvPr/>
        </p:nvSpPr>
        <p:spPr>
          <a:xfrm>
            <a:off x="1508760" y="352044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Trabajo en equipo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251960" y="3520440"/>
            <a:ext cx="3429000" cy="1051560"/>
          </a:xfrm>
          <a:prstGeom prst="roundRect">
            <a:avLst>
              <a:gd fmla="val 7826" name="adj"/>
            </a:avLst>
          </a:prstGeom>
          <a:solidFill>
            <a:srgbClr val="0B4B25"/>
          </a:solidFill>
          <a:ln cap="flat" cmpd="sng" w="127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4480560" y="374904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listUl.png" id="365" name="Google Shape;3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7827" y="382630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2"/>
          <p:cNvSpPr/>
          <p:nvPr/>
        </p:nvSpPr>
        <p:spPr>
          <a:xfrm>
            <a:off x="5212080" y="352044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Gestión ágil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7955280" y="3520440"/>
            <a:ext cx="3429000" cy="1051560"/>
          </a:xfrm>
          <a:prstGeom prst="roundRect">
            <a:avLst>
              <a:gd fmla="val 7826" name="adj"/>
            </a:avLst>
          </a:prstGeom>
          <a:solidFill>
            <a:srgbClr val="0B4B25"/>
          </a:solidFill>
          <a:ln cap="flat" cmpd="sng" w="12700">
            <a:solidFill>
              <a:srgbClr val="1C5A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8183880" y="3749040"/>
            <a:ext cx="594360" cy="5943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seedling.png" id="369" name="Google Shape;36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1147" y="3826307"/>
            <a:ext cx="439826" cy="43982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8915400" y="3520440"/>
            <a:ext cx="23317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mbria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Adaptabilidad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48640" y="4892040"/>
            <a:ext cx="11064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Con potencial de escalar a nuevas funcionalidades —como monitoreo IoT o gestión de inventario— CowTracker demuestra nuestro compromiso con soluciones tecnológicas innovadoras para la industria ganadera chilena.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1155161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6B6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6B6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331A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ssets/photo_cow.jpeg" id="378" name="Google Shape;3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331A">
              <a:alpha val="7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0" y="2377440"/>
            <a:ext cx="12191695" cy="2926080"/>
          </a:xfrm>
          <a:prstGeom prst="rect">
            <a:avLst/>
          </a:prstGeom>
          <a:solidFill>
            <a:srgbClr val="07331A">
              <a:alpha val="9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"/>
          <p:cNvSpPr/>
          <p:nvPr/>
        </p:nvSpPr>
        <p:spPr>
          <a:xfrm>
            <a:off x="5592928" y="1691640"/>
            <a:ext cx="1005840" cy="10058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_cow.png" id="382" name="Google Shape;38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2384" y="1911096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3"/>
          <p:cNvSpPr/>
          <p:nvPr/>
        </p:nvSpPr>
        <p:spPr>
          <a:xfrm>
            <a:off x="0" y="297180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¡MUCHAS GRACIAS!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3"/>
          <p:cNvSpPr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3D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FE3D6"/>
                </a:solidFill>
                <a:latin typeface="Calibri"/>
                <a:ea typeface="Calibri"/>
                <a:cs typeface="Calibri"/>
                <a:sym typeface="Calibri"/>
              </a:rPr>
              <a:t>CowTracker  ·  Proyecto Capstone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3"/>
          <p:cNvSpPr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EC9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EC9B8"/>
                </a:solidFill>
                <a:latin typeface="Calibri"/>
                <a:ea typeface="Calibri"/>
                <a:cs typeface="Calibri"/>
                <a:sym typeface="Calibri"/>
              </a:rPr>
              <a:t>Lucas Meléndez · Justin Serón · Camilo Le Fort · Danery Arriagada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2026-09-07T06:46:59Z</dcterms:created>
  <dc:creator>PptxGenJS</dc:creator>
</cp:coreProperties>
</file>